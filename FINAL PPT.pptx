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8" r:id="rId9"/>
    <p:sldId id="270" r:id="rId10"/>
    <p:sldId id="272" r:id="rId11"/>
    <p:sldId id="274" r:id="rId12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853" autoAdjust="0"/>
    <p:restoredTop sz="94660"/>
  </p:normalViewPr>
  <p:slideViewPr>
    <p:cSldViewPr>
      <p:cViewPr>
        <p:scale>
          <a:sx n="66" d="100"/>
          <a:sy n="66" d="100"/>
        </p:scale>
        <p:origin x="-2390" y="34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1177" y="879093"/>
            <a:ext cx="4460494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1177" y="879093"/>
            <a:ext cx="43326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Report </a:t>
            </a:r>
            <a:r>
              <a:rPr spc="-5" dirty="0"/>
              <a:t>on</a:t>
            </a:r>
            <a:r>
              <a:rPr spc="10" dirty="0"/>
              <a:t> </a:t>
            </a:r>
            <a:r>
              <a:rPr spc="-10" dirty="0"/>
              <a:t>Use</a:t>
            </a:r>
            <a:r>
              <a:rPr spc="-15" dirty="0"/>
              <a:t> </a:t>
            </a:r>
            <a:r>
              <a:rPr spc="-5" dirty="0"/>
              <a:t>case</a:t>
            </a:r>
            <a:r>
              <a:rPr spc="10" dirty="0"/>
              <a:t> </a:t>
            </a:r>
            <a:r>
              <a:rPr spc="-5" dirty="0"/>
              <a:t>Scenario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6977" y="2083053"/>
            <a:ext cx="29597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60" dirty="0">
                <a:latin typeface="Times New Roman"/>
                <a:cs typeface="Times New Roman"/>
              </a:rPr>
              <a:t>TriVibe</a:t>
            </a:r>
            <a:r>
              <a:rPr sz="3600" b="1" spc="-8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Events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08858" y="3289301"/>
            <a:ext cx="194373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u="heavy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Team:</a:t>
            </a:r>
            <a:r>
              <a:rPr sz="2000" b="1" u="heavy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EventFlow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86864" y="4100929"/>
          <a:ext cx="3386453" cy="1687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1514"/>
                <a:gridCol w="1424939"/>
              </a:tblGrid>
              <a:tr h="419124">
                <a:tc>
                  <a:txBody>
                    <a:bodyPr/>
                    <a:lstStyle/>
                    <a:p>
                      <a:pPr marL="31750">
                        <a:lnSpc>
                          <a:spcPts val="170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Madhur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Mahajan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0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102203491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94920">
                <a:tc>
                  <a:txBody>
                    <a:bodyPr/>
                    <a:lstStyle/>
                    <a:p>
                      <a:pPr marL="31750">
                        <a:lnSpc>
                          <a:spcPts val="1735"/>
                        </a:lnSpc>
                      </a:pP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Yash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Saxena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35"/>
                        </a:lnSpc>
                      </a:pPr>
                      <a:r>
                        <a:rPr sz="1600" spc="-5" smtClean="0">
                          <a:latin typeface="Times New Roman"/>
                          <a:cs typeface="Times New Roman"/>
                        </a:rPr>
                        <a:t>102203915</a:t>
                      </a:r>
                      <a:endParaRPr lang="en-US" sz="1600" spc="-5" dirty="0" smtClean="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ts val="1735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46149">
                <a:tc>
                  <a:txBody>
                    <a:bodyPr/>
                    <a:lstStyle/>
                    <a:p>
                      <a:pPr marL="31750">
                        <a:lnSpc>
                          <a:spcPts val="1739"/>
                        </a:lnSpc>
                      </a:pPr>
                      <a:r>
                        <a:rPr lang="en-US" sz="1600" spc="-5" dirty="0" err="1" smtClean="0">
                          <a:latin typeface="Times New Roman"/>
                          <a:cs typeface="Times New Roman"/>
                        </a:rPr>
                        <a:t>Jashandeep</a:t>
                      </a:r>
                      <a:r>
                        <a:rPr lang="en-US" sz="1600" spc="-35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spc="-5" dirty="0" smtClean="0">
                          <a:latin typeface="Times New Roman"/>
                          <a:cs typeface="Times New Roman"/>
                        </a:rPr>
                        <a:t>Singh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4130" indent="0" algn="r" defTabSz="914400" eaLnBrk="1" fontAlgn="auto" latinLnBrk="0" hangingPunct="1">
                        <a:lnSpc>
                          <a:spcPts val="17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spc="-5" dirty="0" smtClean="0">
                          <a:latin typeface="Times New Roman"/>
                          <a:cs typeface="Times New Roman"/>
                        </a:rPr>
                        <a:t>102203295</a:t>
                      </a:r>
                      <a:endParaRPr lang="en-US" sz="1600" dirty="0" smtClean="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ts val="1739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90377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1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134870" y="5832728"/>
            <a:ext cx="3289935" cy="76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115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Department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Computer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Science</a:t>
            </a:r>
            <a:endParaRPr sz="1800">
              <a:latin typeface="Times New Roman"/>
              <a:cs typeface="Times New Roman"/>
            </a:endParaRPr>
          </a:p>
          <a:p>
            <a:pPr marL="655955" marR="650240" algn="ctr">
              <a:lnSpc>
                <a:spcPts val="1850"/>
              </a:lnSpc>
              <a:spcBef>
                <a:spcPts val="75"/>
              </a:spcBef>
            </a:pPr>
            <a:r>
              <a:rPr sz="1600" b="1" spc="-10" dirty="0">
                <a:latin typeface="Times New Roman"/>
                <a:cs typeface="Times New Roman"/>
              </a:rPr>
              <a:t>Under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the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Guidance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of </a:t>
            </a:r>
            <a:r>
              <a:rPr sz="1600" b="1" spc="-385" dirty="0">
                <a:latin typeface="Times New Roman"/>
                <a:cs typeface="Times New Roman"/>
              </a:rPr>
              <a:t> </a:t>
            </a:r>
            <a:r>
              <a:rPr sz="1600" b="1" spc="-55" dirty="0">
                <a:latin typeface="Times New Roman"/>
                <a:cs typeface="Times New Roman"/>
              </a:rPr>
              <a:t>Dr.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Damini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6513" y="6941680"/>
            <a:ext cx="3080133" cy="27438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88237"/>
            <a:ext cx="5525770" cy="87369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240665" marR="8255" indent="-228600">
              <a:lnSpc>
                <a:spcPct val="103099"/>
              </a:lnSpc>
              <a:spcBef>
                <a:spcPts val="35"/>
              </a:spcBef>
              <a:buFont typeface="Wingdings"/>
              <a:buChar char=""/>
              <a:tabLst>
                <a:tab pos="241300" algn="l"/>
              </a:tabLst>
            </a:pP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Title:</a:t>
            </a:r>
            <a:r>
              <a:rPr sz="1600" b="1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Movie,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Trip,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Cafe,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Club,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Sports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Booking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for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Tri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Vibe</a:t>
            </a:r>
            <a:r>
              <a:rPr sz="1600" spc="-5" dirty="0">
                <a:latin typeface="Times New Roman"/>
                <a:cs typeface="Times New Roman"/>
              </a:rPr>
              <a:t> Events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"/>
            </a:pPr>
            <a:endParaRPr sz="175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Primary</a:t>
            </a:r>
            <a:r>
              <a:rPr sz="1600" b="1" u="heavy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Actors:</a:t>
            </a:r>
            <a:endParaRPr sz="1600">
              <a:latin typeface="Times New Roman"/>
              <a:cs typeface="Times New Roman"/>
            </a:endParaRPr>
          </a:p>
          <a:p>
            <a:pPr marL="372110" lvl="1" indent="-229235">
              <a:lnSpc>
                <a:spcPct val="100000"/>
              </a:lnSpc>
              <a:spcBef>
                <a:spcPts val="190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 </a:t>
            </a:r>
            <a:r>
              <a:rPr sz="1600" spc="-5" dirty="0">
                <a:latin typeface="Times New Roman"/>
                <a:cs typeface="Times New Roman"/>
              </a:rPr>
              <a:t>(End-User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who books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events)</a:t>
            </a:r>
            <a:endParaRPr sz="1600">
              <a:latin typeface="Times New Roman"/>
              <a:cs typeface="Times New Roman"/>
            </a:endParaRPr>
          </a:p>
          <a:p>
            <a:pPr marL="372110" lvl="1" indent="-229235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spc="-5" dirty="0">
                <a:latin typeface="Times New Roman"/>
                <a:cs typeface="Times New Roman"/>
              </a:rPr>
              <a:t>Event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Organizer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(Person/Organization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creating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events)</a:t>
            </a:r>
            <a:endParaRPr sz="1600">
              <a:latin typeface="Times New Roman"/>
              <a:cs typeface="Times New Roman"/>
            </a:endParaRPr>
          </a:p>
          <a:p>
            <a:pPr marL="372110" marR="6985" lvl="1" indent="-228600">
              <a:lnSpc>
                <a:spcPct val="103099"/>
              </a:lnSpc>
              <a:spcBef>
                <a:spcPts val="120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Admin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(Managing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system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backend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approvals)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75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Preconditions:</a:t>
            </a:r>
            <a:endParaRPr sz="1600">
              <a:latin typeface="Times New Roman"/>
              <a:cs typeface="Times New Roman"/>
            </a:endParaRPr>
          </a:p>
          <a:p>
            <a:pPr marL="372110" lvl="1" indent="-229235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spc="-5" dirty="0">
                <a:latin typeface="Times New Roman"/>
                <a:cs typeface="Times New Roman"/>
              </a:rPr>
              <a:t> is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registered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with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app.</a:t>
            </a:r>
            <a:endParaRPr sz="1600">
              <a:latin typeface="Times New Roman"/>
              <a:cs typeface="Times New Roman"/>
            </a:endParaRPr>
          </a:p>
          <a:p>
            <a:pPr marL="372110" marR="5080" lvl="1" indent="-228600">
              <a:lnSpc>
                <a:spcPct val="103099"/>
              </a:lnSpc>
              <a:spcBef>
                <a:spcPts val="120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spc="-5" dirty="0">
                <a:latin typeface="Times New Roman"/>
                <a:cs typeface="Times New Roman"/>
              </a:rPr>
              <a:t>Events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created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by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organizers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approved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by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admin.</a:t>
            </a:r>
            <a:endParaRPr sz="1600">
              <a:latin typeface="Times New Roman"/>
              <a:cs typeface="Times New Roman"/>
            </a:endParaRPr>
          </a:p>
          <a:p>
            <a:pPr marL="372110" lvl="1" indent="-229235">
              <a:lnSpc>
                <a:spcPct val="100000"/>
              </a:lnSpc>
              <a:spcBef>
                <a:spcPts val="190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spc="-5" dirty="0">
                <a:latin typeface="Times New Roman"/>
                <a:cs typeface="Times New Roman"/>
              </a:rPr>
              <a:t>Payment gateway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 </a:t>
            </a:r>
            <a:r>
              <a:rPr sz="1600" spc="-5" dirty="0">
                <a:latin typeface="Times New Roman"/>
                <a:cs typeface="Times New Roman"/>
              </a:rPr>
              <a:t>functional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integrated.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175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1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</a:t>
            </a:r>
            <a:r>
              <a:rPr sz="1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1: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Book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Movie</a:t>
            </a:r>
            <a:endParaRPr sz="1600">
              <a:latin typeface="Times New Roman"/>
              <a:cs typeface="Times New Roman"/>
            </a:endParaRPr>
          </a:p>
          <a:p>
            <a:pPr marL="372110" lvl="1" indent="-229235">
              <a:lnSpc>
                <a:spcPct val="100000"/>
              </a:lnSpc>
              <a:spcBef>
                <a:spcPts val="190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Goal: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spc="-60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allow </a:t>
            </a:r>
            <a:r>
              <a:rPr sz="1600" dirty="0">
                <a:latin typeface="Times New Roman"/>
                <a:cs typeface="Times New Roman"/>
              </a:rPr>
              <a:t>users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 book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movie event.</a:t>
            </a:r>
            <a:endParaRPr sz="1600">
              <a:latin typeface="Times New Roman"/>
              <a:cs typeface="Times New Roman"/>
            </a:endParaRPr>
          </a:p>
          <a:p>
            <a:pPr marL="372110" lvl="1" indent="-229235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Scenario: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65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 </a:t>
            </a:r>
            <a:r>
              <a:rPr sz="1600" spc="-5" dirty="0">
                <a:latin typeface="Times New Roman"/>
                <a:cs typeface="Times New Roman"/>
              </a:rPr>
              <a:t>logs into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Tri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Vibe</a:t>
            </a:r>
            <a:r>
              <a:rPr sz="1600" spc="-5" dirty="0">
                <a:latin typeface="Times New Roman"/>
                <a:cs typeface="Times New Roman"/>
              </a:rPr>
              <a:t> Events </a:t>
            </a:r>
            <a:r>
              <a:rPr sz="1600" dirty="0">
                <a:latin typeface="Times New Roman"/>
                <a:cs typeface="Times New Roman"/>
              </a:rPr>
              <a:t>app.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spc="-5" dirty="0">
                <a:latin typeface="Times New Roman"/>
                <a:cs typeface="Times New Roman"/>
              </a:rPr>
              <a:t> navigates to</a:t>
            </a:r>
            <a:r>
              <a:rPr sz="1600" dirty="0">
                <a:latin typeface="Times New Roman"/>
                <a:cs typeface="Times New Roman"/>
              </a:rPr>
              <a:t> the</a:t>
            </a:r>
            <a:r>
              <a:rPr sz="1600" spc="-5" dirty="0">
                <a:latin typeface="Times New Roman"/>
                <a:cs typeface="Times New Roman"/>
              </a:rPr>
              <a:t> Movie Booking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category.</a:t>
            </a:r>
            <a:endParaRPr sz="1600">
              <a:latin typeface="Times New Roman"/>
              <a:cs typeface="Times New Roman"/>
            </a:endParaRPr>
          </a:p>
          <a:p>
            <a:pPr marL="553085" marR="5080" lvl="2" indent="-228600">
              <a:lnSpc>
                <a:spcPct val="103099"/>
              </a:lnSpc>
              <a:spcBef>
                <a:spcPts val="1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spc="3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displays</a:t>
            </a:r>
            <a:r>
              <a:rPr sz="1600" spc="3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available</a:t>
            </a:r>
            <a:r>
              <a:rPr sz="1600" spc="3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movie</a:t>
            </a:r>
            <a:r>
              <a:rPr sz="1600" spc="3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options</a:t>
            </a:r>
            <a:r>
              <a:rPr sz="1600" spc="3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with</a:t>
            </a:r>
            <a:r>
              <a:rPr sz="1600" spc="3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details</a:t>
            </a:r>
            <a:r>
              <a:rPr sz="1600" spc="3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like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movie title,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venue,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time,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rating.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75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 </a:t>
            </a:r>
            <a:r>
              <a:rPr sz="1600" spc="-5" dirty="0">
                <a:latin typeface="Times New Roman"/>
                <a:cs typeface="Times New Roman"/>
              </a:rPr>
              <a:t>selects 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movie 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reviews details.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 </a:t>
            </a:r>
            <a:r>
              <a:rPr sz="1600" spc="-5" dirty="0">
                <a:latin typeface="Times New Roman"/>
                <a:cs typeface="Times New Roman"/>
              </a:rPr>
              <a:t>chooses the </a:t>
            </a:r>
            <a:r>
              <a:rPr sz="1600" dirty="0">
                <a:latin typeface="Times New Roman"/>
                <a:cs typeface="Times New Roman"/>
              </a:rPr>
              <a:t>date,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time,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seats.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7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shows</a:t>
            </a:r>
            <a:r>
              <a:rPr sz="1600" spc="-10" dirty="0">
                <a:latin typeface="Times New Roman"/>
                <a:cs typeface="Times New Roman"/>
              </a:rPr>
              <a:t> seat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availability.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 </a:t>
            </a:r>
            <a:r>
              <a:rPr sz="1600" spc="-5" dirty="0">
                <a:latin typeface="Times New Roman"/>
                <a:cs typeface="Times New Roman"/>
              </a:rPr>
              <a:t>confirms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booking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proceeds 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payment.</a:t>
            </a:r>
            <a:endParaRPr sz="1600">
              <a:latin typeface="Times New Roman"/>
              <a:cs typeface="Times New Roman"/>
            </a:endParaRPr>
          </a:p>
          <a:p>
            <a:pPr marL="553085" marR="8255" lvl="2" indent="-228600">
              <a:lnSpc>
                <a:spcPts val="1989"/>
              </a:lnSpc>
              <a:spcBef>
                <a:spcPts val="7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processes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payment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sends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confirmation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email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with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e-ticket.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ts val="1905"/>
              </a:lnSpc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can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view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booking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details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under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"My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Events"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section.</a:t>
            </a:r>
            <a:endParaRPr sz="16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35"/>
              </a:spcBef>
              <a:buFont typeface="Wingdings"/>
              <a:buChar char=""/>
            </a:pPr>
            <a:endParaRPr sz="175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41300" algn="l"/>
              </a:tabLst>
            </a:pP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1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</a:t>
            </a: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2: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Book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Trip</a:t>
            </a:r>
            <a:endParaRPr sz="1600">
              <a:latin typeface="Times New Roman"/>
              <a:cs typeface="Times New Roman"/>
            </a:endParaRPr>
          </a:p>
          <a:p>
            <a:pPr marL="372110" lvl="1" indent="-229235">
              <a:lnSpc>
                <a:spcPct val="100000"/>
              </a:lnSpc>
              <a:spcBef>
                <a:spcPts val="190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Goal: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spc="-60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enable users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browse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book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trip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events.</a:t>
            </a:r>
            <a:endParaRPr sz="1600">
              <a:latin typeface="Times New Roman"/>
              <a:cs typeface="Times New Roman"/>
            </a:endParaRPr>
          </a:p>
          <a:p>
            <a:pPr marL="372110" lvl="1" indent="-229235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Scenario: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spc="-5" dirty="0">
                <a:latin typeface="Times New Roman"/>
                <a:cs typeface="Times New Roman"/>
              </a:rPr>
              <a:t> selects</a:t>
            </a:r>
            <a:r>
              <a:rPr sz="1600" dirty="0">
                <a:latin typeface="Times New Roman"/>
                <a:cs typeface="Times New Roman"/>
              </a:rPr>
              <a:t> 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Trips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category from </a:t>
            </a:r>
            <a:r>
              <a:rPr sz="1600" dirty="0">
                <a:latin typeface="Times New Roman"/>
                <a:cs typeface="Times New Roman"/>
              </a:rPr>
              <a:t>the </a:t>
            </a:r>
            <a:r>
              <a:rPr sz="1600" spc="-5" dirty="0">
                <a:latin typeface="Times New Roman"/>
                <a:cs typeface="Times New Roman"/>
              </a:rPr>
              <a:t>homepage.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88237"/>
            <a:ext cx="5529580" cy="864870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553085" marR="9525" indent="-228600">
              <a:lnSpc>
                <a:spcPct val="103099"/>
              </a:lnSpc>
              <a:spcBef>
                <a:spcPts val="35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spc="3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displays</a:t>
            </a:r>
            <a:r>
              <a:rPr sz="1600" spc="3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upcoming</a:t>
            </a:r>
            <a:r>
              <a:rPr sz="1600" spc="3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trip</a:t>
            </a:r>
            <a:r>
              <a:rPr sz="1600" spc="3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packages,</a:t>
            </a:r>
            <a:r>
              <a:rPr sz="1600" spc="3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locations,</a:t>
            </a:r>
            <a:r>
              <a:rPr sz="1600" spc="3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dates,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trip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organizers.</a:t>
            </a:r>
            <a:endParaRPr sz="1600">
              <a:latin typeface="Times New Roman"/>
              <a:cs typeface="Times New Roman"/>
            </a:endParaRPr>
          </a:p>
          <a:p>
            <a:pPr marL="553085" marR="12065" indent="-228600">
              <a:lnSpc>
                <a:spcPct val="103099"/>
              </a:lnSpc>
              <a:spcBef>
                <a:spcPts val="1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clicks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on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specific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trip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view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itinerary,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cost,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available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spots.</a:t>
            </a:r>
            <a:endParaRPr sz="1600">
              <a:latin typeface="Times New Roman"/>
              <a:cs typeface="Times New Roman"/>
            </a:endParaRPr>
          </a:p>
          <a:p>
            <a:pPr marL="553085" indent="-229235">
              <a:lnSpc>
                <a:spcPct val="100000"/>
              </a:lnSpc>
              <a:spcBef>
                <a:spcPts val="75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spc="-5" dirty="0">
                <a:latin typeface="Times New Roman"/>
                <a:cs typeface="Times New Roman"/>
              </a:rPr>
              <a:t> selects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trip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number 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participants.</a:t>
            </a:r>
            <a:endParaRPr sz="1600">
              <a:latin typeface="Times New Roman"/>
              <a:cs typeface="Times New Roman"/>
            </a:endParaRPr>
          </a:p>
          <a:p>
            <a:pPr marL="553085" indent="-22923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checks </a:t>
            </a:r>
            <a:r>
              <a:rPr sz="1600" spc="-10" dirty="0">
                <a:latin typeface="Times New Roman"/>
                <a:cs typeface="Times New Roman"/>
              </a:rPr>
              <a:t>availability.</a:t>
            </a:r>
            <a:endParaRPr sz="1600">
              <a:latin typeface="Times New Roman"/>
              <a:cs typeface="Times New Roman"/>
            </a:endParaRPr>
          </a:p>
          <a:p>
            <a:pPr marL="553085" indent="-229235">
              <a:lnSpc>
                <a:spcPct val="100000"/>
              </a:lnSpc>
              <a:spcBef>
                <a:spcPts val="7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spc="-5" dirty="0">
                <a:latin typeface="Times New Roman"/>
                <a:cs typeface="Times New Roman"/>
              </a:rPr>
              <a:t> confirms</a:t>
            </a:r>
            <a:r>
              <a:rPr sz="1600" dirty="0">
                <a:latin typeface="Times New Roman"/>
                <a:cs typeface="Times New Roman"/>
              </a:rPr>
              <a:t> the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booking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inputs participant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details.</a:t>
            </a:r>
            <a:endParaRPr sz="1600">
              <a:latin typeface="Times New Roman"/>
              <a:cs typeface="Times New Roman"/>
            </a:endParaRPr>
          </a:p>
          <a:p>
            <a:pPr marL="553085" marR="9525" indent="-228600">
              <a:lnSpc>
                <a:spcPts val="1989"/>
              </a:lnSpc>
              <a:spcBef>
                <a:spcPts val="70"/>
              </a:spcBef>
              <a:buFont typeface="Wingdings"/>
              <a:buChar char=""/>
              <a:tabLst>
                <a:tab pos="553085" algn="l"/>
                <a:tab pos="553720" algn="l"/>
                <a:tab pos="1354455" algn="l"/>
                <a:tab pos="2338070" algn="l"/>
                <a:tab pos="2790190" algn="l"/>
                <a:tab pos="3693160" algn="l"/>
                <a:tab pos="4191000" algn="l"/>
                <a:tab pos="4846955" algn="l"/>
              </a:tabLst>
            </a:pPr>
            <a:r>
              <a:rPr sz="1600" spc="-10" dirty="0">
                <a:latin typeface="Times New Roman"/>
                <a:cs typeface="Times New Roman"/>
              </a:rPr>
              <a:t>S</a:t>
            </a:r>
            <a:r>
              <a:rPr sz="1600" spc="-5" dirty="0">
                <a:latin typeface="Times New Roman"/>
                <a:cs typeface="Times New Roman"/>
              </a:rPr>
              <a:t>y</a:t>
            </a:r>
            <a:r>
              <a:rPr sz="1600" spc="-10" dirty="0">
                <a:latin typeface="Times New Roman"/>
                <a:cs typeface="Times New Roman"/>
              </a:rPr>
              <a:t>ste</a:t>
            </a:r>
            <a:r>
              <a:rPr sz="1600" spc="-5" dirty="0">
                <a:latin typeface="Times New Roman"/>
                <a:cs typeface="Times New Roman"/>
              </a:rPr>
              <a:t>m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proces</a:t>
            </a:r>
            <a:r>
              <a:rPr sz="1600" dirty="0">
                <a:latin typeface="Times New Roman"/>
                <a:cs typeface="Times New Roman"/>
              </a:rPr>
              <a:t>se</a:t>
            </a:r>
            <a:r>
              <a:rPr sz="1600" spc="-5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h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pay</a:t>
            </a:r>
            <a:r>
              <a:rPr sz="1600" spc="-15" dirty="0">
                <a:latin typeface="Times New Roman"/>
                <a:cs typeface="Times New Roman"/>
              </a:rPr>
              <a:t>m</a:t>
            </a:r>
            <a:r>
              <a:rPr sz="1600" spc="-5" dirty="0">
                <a:latin typeface="Times New Roman"/>
                <a:cs typeface="Times New Roman"/>
              </a:rPr>
              <a:t>ent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se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5" dirty="0">
                <a:latin typeface="Times New Roman"/>
                <a:cs typeface="Times New Roman"/>
              </a:rPr>
              <a:t>ds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5" dirty="0">
                <a:latin typeface="Times New Roman"/>
                <a:cs typeface="Times New Roman"/>
              </a:rPr>
              <a:t>b</a:t>
            </a:r>
            <a:r>
              <a:rPr sz="1600" spc="-5" dirty="0">
                <a:latin typeface="Times New Roman"/>
                <a:cs typeface="Times New Roman"/>
              </a:rPr>
              <a:t>ooki</a:t>
            </a:r>
            <a:r>
              <a:rPr sz="1600" spc="-15" dirty="0">
                <a:latin typeface="Times New Roman"/>
                <a:cs typeface="Times New Roman"/>
              </a:rPr>
              <a:t>n</a:t>
            </a:r>
            <a:r>
              <a:rPr sz="1600" spc="-5" dirty="0">
                <a:latin typeface="Times New Roman"/>
                <a:cs typeface="Times New Roman"/>
              </a:rPr>
              <a:t>g  confirmation </a:t>
            </a:r>
            <a:r>
              <a:rPr sz="1600" spc="-10" dirty="0">
                <a:latin typeface="Times New Roman"/>
                <a:cs typeface="Times New Roman"/>
              </a:rPr>
              <a:t>with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trip details.</a:t>
            </a:r>
            <a:endParaRPr sz="1600">
              <a:latin typeface="Times New Roman"/>
              <a:cs typeface="Times New Roman"/>
            </a:endParaRPr>
          </a:p>
          <a:p>
            <a:pPr marL="553085" indent="-229235">
              <a:lnSpc>
                <a:spcPts val="1905"/>
              </a:lnSpc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receives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reminders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trip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before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departure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 3: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Cafe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 Reservation</a:t>
            </a:r>
            <a:endParaRPr sz="1600">
              <a:latin typeface="Times New Roman"/>
              <a:cs typeface="Times New Roman"/>
            </a:endParaRPr>
          </a:p>
          <a:p>
            <a:pPr marL="372110" marR="10795" lvl="1" indent="-228600">
              <a:lnSpc>
                <a:spcPct val="103800"/>
              </a:lnSpc>
              <a:spcBef>
                <a:spcPts val="105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Goal:</a:t>
            </a:r>
            <a:r>
              <a:rPr sz="1600" b="1" spc="135" dirty="0">
                <a:latin typeface="Times New Roman"/>
                <a:cs typeface="Times New Roman"/>
              </a:rPr>
              <a:t> </a:t>
            </a:r>
            <a:r>
              <a:rPr sz="1600" spc="-60" dirty="0">
                <a:latin typeface="Times New Roman"/>
                <a:cs typeface="Times New Roman"/>
              </a:rPr>
              <a:t>To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allow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users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reserve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cafe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spots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(e.g.,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music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gigs,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special </a:t>
            </a:r>
            <a:r>
              <a:rPr sz="1600" spc="-10" dirty="0">
                <a:latin typeface="Times New Roman"/>
                <a:cs typeface="Times New Roman"/>
              </a:rPr>
              <a:t>offers).</a:t>
            </a:r>
            <a:endParaRPr sz="1600">
              <a:latin typeface="Times New Roman"/>
              <a:cs typeface="Times New Roman"/>
            </a:endParaRPr>
          </a:p>
          <a:p>
            <a:pPr marL="372110" lvl="1" indent="-229235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Scenario: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 </a:t>
            </a:r>
            <a:r>
              <a:rPr sz="1600" spc="-5" dirty="0">
                <a:latin typeface="Times New Roman"/>
                <a:cs typeface="Times New Roman"/>
              </a:rPr>
              <a:t>goes to the </a:t>
            </a:r>
            <a:r>
              <a:rPr sz="1600" dirty="0">
                <a:latin typeface="Times New Roman"/>
                <a:cs typeface="Times New Roman"/>
              </a:rPr>
              <a:t>Cafe</a:t>
            </a:r>
            <a:r>
              <a:rPr sz="1600" spc="-5" dirty="0">
                <a:latin typeface="Times New Roman"/>
                <a:cs typeface="Times New Roman"/>
              </a:rPr>
              <a:t> Events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section.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spc="-5" dirty="0">
                <a:latin typeface="Times New Roman"/>
                <a:cs typeface="Times New Roman"/>
              </a:rPr>
              <a:t> lists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cafe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(e.g.,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live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music,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coffee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tasting).</a:t>
            </a:r>
            <a:endParaRPr sz="1600">
              <a:latin typeface="Times New Roman"/>
              <a:cs typeface="Times New Roman"/>
            </a:endParaRPr>
          </a:p>
          <a:p>
            <a:pPr marL="553085" marR="10795" lvl="2" indent="-228600">
              <a:lnSpc>
                <a:spcPct val="103200"/>
              </a:lnSpc>
              <a:spcBef>
                <a:spcPts val="1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selects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checks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availability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seats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or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offers.</a:t>
            </a:r>
            <a:endParaRPr sz="1600">
              <a:latin typeface="Times New Roman"/>
              <a:cs typeface="Times New Roman"/>
            </a:endParaRPr>
          </a:p>
          <a:p>
            <a:pPr marL="553085" marR="9525" lvl="2" indent="-228600">
              <a:lnSpc>
                <a:spcPct val="103099"/>
              </a:lnSpc>
              <a:spcBef>
                <a:spcPts val="15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confirms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reservation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details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selects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date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time.</a:t>
            </a:r>
            <a:endParaRPr sz="1600">
              <a:latin typeface="Times New Roman"/>
              <a:cs typeface="Times New Roman"/>
            </a:endParaRPr>
          </a:p>
          <a:p>
            <a:pPr marL="553085" marR="10160" lvl="2" indent="-228600">
              <a:lnSpc>
                <a:spcPct val="103099"/>
              </a:lnSpc>
              <a:spcBef>
                <a:spcPts val="1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processes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booking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and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displays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QR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code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for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entry.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75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receives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notification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 </a:t>
            </a:r>
            <a:r>
              <a:rPr sz="1600" spc="-5" dirty="0">
                <a:latin typeface="Times New Roman"/>
                <a:cs typeface="Times New Roman"/>
              </a:rPr>
              <a:t>upcoming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cafe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event.</a:t>
            </a:r>
            <a:endParaRPr sz="16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35"/>
              </a:spcBef>
              <a:buFont typeface="Wingdings"/>
              <a:buChar char=""/>
            </a:pPr>
            <a:endParaRPr sz="175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41300" algn="l"/>
              </a:tabLst>
            </a:pP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</a:t>
            </a: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4: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Book 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Club Event</a:t>
            </a:r>
            <a:endParaRPr sz="1600">
              <a:latin typeface="Times New Roman"/>
              <a:cs typeface="Times New Roman"/>
            </a:endParaRPr>
          </a:p>
          <a:p>
            <a:pPr marL="372110" lvl="1" indent="-229235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Goal: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spc="-6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enable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users 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book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tickets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club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parties.</a:t>
            </a:r>
            <a:endParaRPr sz="1600">
              <a:latin typeface="Times New Roman"/>
              <a:cs typeface="Times New Roman"/>
            </a:endParaRPr>
          </a:p>
          <a:p>
            <a:pPr marL="372110" lvl="1" indent="-229235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Scenario: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 </a:t>
            </a:r>
            <a:r>
              <a:rPr sz="1600" spc="-5" dirty="0">
                <a:latin typeface="Times New Roman"/>
                <a:cs typeface="Times New Roman"/>
              </a:rPr>
              <a:t>navigates to</a:t>
            </a:r>
            <a:r>
              <a:rPr sz="1600" dirty="0">
                <a:latin typeface="Times New Roman"/>
                <a:cs typeface="Times New Roman"/>
              </a:rPr>
              <a:t> 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Clubs </a:t>
            </a:r>
            <a:r>
              <a:rPr sz="1600" spc="-15" dirty="0">
                <a:latin typeface="Times New Roman"/>
                <a:cs typeface="Times New Roman"/>
              </a:rPr>
              <a:t>category.</a:t>
            </a:r>
            <a:endParaRPr sz="1600">
              <a:latin typeface="Times New Roman"/>
              <a:cs typeface="Times New Roman"/>
            </a:endParaRPr>
          </a:p>
          <a:p>
            <a:pPr marL="553085" marR="8890" lvl="2" indent="-228600">
              <a:lnSpc>
                <a:spcPct val="103099"/>
              </a:lnSpc>
              <a:spcBef>
                <a:spcPts val="15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displays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available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club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events,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including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DJs,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venue,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date.</a:t>
            </a:r>
            <a:endParaRPr sz="1600">
              <a:latin typeface="Times New Roman"/>
              <a:cs typeface="Times New Roman"/>
            </a:endParaRPr>
          </a:p>
          <a:p>
            <a:pPr marL="553085" marR="6985" lvl="2" indent="-228600">
              <a:lnSpc>
                <a:spcPts val="1989"/>
              </a:lnSpc>
              <a:spcBef>
                <a:spcPts val="65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selects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views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details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such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dress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code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event timings.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ts val="1905"/>
              </a:lnSpc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books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tickets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selects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number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attendees.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88237"/>
            <a:ext cx="5527040" cy="8412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3085" indent="-22923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spc="-5" dirty="0">
                <a:latin typeface="Times New Roman"/>
                <a:cs typeface="Times New Roman"/>
              </a:rPr>
              <a:t> verifies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availability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processes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payment.</a:t>
            </a:r>
            <a:endParaRPr sz="1600">
              <a:latin typeface="Times New Roman"/>
              <a:cs typeface="Times New Roman"/>
            </a:endParaRPr>
          </a:p>
          <a:p>
            <a:pPr marL="553085" indent="-22923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receives an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e-ticket</a:t>
            </a:r>
            <a:r>
              <a:rPr sz="1600" spc="-5" dirty="0">
                <a:latin typeface="Times New Roman"/>
                <a:cs typeface="Times New Roman"/>
              </a:rPr>
              <a:t> 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details.</a:t>
            </a:r>
            <a:endParaRPr sz="1600">
              <a:latin typeface="Times New Roman"/>
              <a:cs typeface="Times New Roman"/>
            </a:endParaRPr>
          </a:p>
          <a:p>
            <a:pPr marL="553085" indent="-229235">
              <a:lnSpc>
                <a:spcPct val="100000"/>
              </a:lnSpc>
              <a:spcBef>
                <a:spcPts val="7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 </a:t>
            </a:r>
            <a:r>
              <a:rPr sz="1600" spc="-5" dirty="0">
                <a:latin typeface="Times New Roman"/>
                <a:cs typeface="Times New Roman"/>
              </a:rPr>
              <a:t>sends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notifications </a:t>
            </a:r>
            <a:r>
              <a:rPr sz="1600" spc="-10" dirty="0">
                <a:latin typeface="Times New Roman"/>
                <a:cs typeface="Times New Roman"/>
              </a:rPr>
              <a:t>with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reminders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club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1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</a:t>
            </a: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5:</a:t>
            </a:r>
            <a:r>
              <a:rPr sz="1600" b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Book 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Sports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</a:t>
            </a:r>
            <a:endParaRPr sz="1600">
              <a:latin typeface="Times New Roman"/>
              <a:cs typeface="Times New Roman"/>
            </a:endParaRPr>
          </a:p>
          <a:p>
            <a:pPr marL="372110" marR="6985" lvl="1" indent="-228600">
              <a:lnSpc>
                <a:spcPct val="103099"/>
              </a:lnSpc>
              <a:spcBef>
                <a:spcPts val="120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Goal:</a:t>
            </a:r>
            <a:r>
              <a:rPr sz="1600" b="1" spc="114" dirty="0">
                <a:latin typeface="Times New Roman"/>
                <a:cs typeface="Times New Roman"/>
              </a:rPr>
              <a:t> </a:t>
            </a:r>
            <a:r>
              <a:rPr sz="1600" spc="-60" dirty="0">
                <a:latin typeface="Times New Roman"/>
                <a:cs typeface="Times New Roman"/>
              </a:rPr>
              <a:t>To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allow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users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book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tickets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for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live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sports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events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or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register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for local </a:t>
            </a:r>
            <a:r>
              <a:rPr sz="1600" dirty="0">
                <a:latin typeface="Times New Roman"/>
                <a:cs typeface="Times New Roman"/>
              </a:rPr>
              <a:t>sports</a:t>
            </a:r>
            <a:r>
              <a:rPr sz="1600" spc="-5" dirty="0">
                <a:latin typeface="Times New Roman"/>
                <a:cs typeface="Times New Roman"/>
              </a:rPr>
              <a:t> tournaments.</a:t>
            </a:r>
            <a:endParaRPr sz="1600">
              <a:latin typeface="Times New Roman"/>
              <a:cs typeface="Times New Roman"/>
            </a:endParaRPr>
          </a:p>
          <a:p>
            <a:pPr marL="372110" lvl="1" indent="-229235">
              <a:lnSpc>
                <a:spcPct val="100000"/>
              </a:lnSpc>
              <a:spcBef>
                <a:spcPts val="195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Scenario: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clicks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Sports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category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 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homepage.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shows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available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sports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tournaments.</a:t>
            </a:r>
            <a:endParaRPr sz="1600">
              <a:latin typeface="Times New Roman"/>
              <a:cs typeface="Times New Roman"/>
            </a:endParaRPr>
          </a:p>
          <a:p>
            <a:pPr marL="553085" marR="5715" lvl="2" indent="-228600">
              <a:lnSpc>
                <a:spcPct val="103099"/>
              </a:lnSpc>
              <a:spcBef>
                <a:spcPts val="15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selects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event,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such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2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football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match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or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cricket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tournament,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views</a:t>
            </a:r>
            <a:r>
              <a:rPr sz="1600" spc="-5" dirty="0">
                <a:latin typeface="Times New Roman"/>
                <a:cs typeface="Times New Roman"/>
              </a:rPr>
              <a:t> details.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7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books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tickets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selects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number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attendees.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 </a:t>
            </a:r>
            <a:r>
              <a:rPr sz="1600" spc="-5" dirty="0">
                <a:latin typeface="Times New Roman"/>
                <a:cs typeface="Times New Roman"/>
              </a:rPr>
              <a:t>verifies seat or slot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availability.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75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 </a:t>
            </a:r>
            <a:r>
              <a:rPr sz="1600" spc="-5" dirty="0">
                <a:latin typeface="Times New Roman"/>
                <a:cs typeface="Times New Roman"/>
              </a:rPr>
              <a:t>confirms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booking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completes payment.</a:t>
            </a:r>
            <a:endParaRPr sz="1600">
              <a:latin typeface="Times New Roman"/>
              <a:cs typeface="Times New Roman"/>
            </a:endParaRPr>
          </a:p>
          <a:p>
            <a:pPr marL="553085" marR="5080" lvl="2" indent="-228600">
              <a:lnSpc>
                <a:spcPct val="103099"/>
              </a:lnSpc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sends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e-ticket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information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user's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profile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email.</a:t>
            </a:r>
            <a:endParaRPr sz="16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40"/>
              </a:spcBef>
              <a:buFont typeface="Wingdings"/>
              <a:buChar char=""/>
            </a:pPr>
            <a:endParaRPr sz="1750">
              <a:latin typeface="Times New Roman"/>
              <a:cs typeface="Times New Roman"/>
            </a:endParaRPr>
          </a:p>
          <a:p>
            <a:pPr marL="240665" marR="3495040" indent="-241300" algn="r">
              <a:lnSpc>
                <a:spcPct val="100000"/>
              </a:lnSpc>
              <a:buFont typeface="Wingdings"/>
              <a:buChar char=""/>
              <a:tabLst>
                <a:tab pos="241300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Common</a:t>
            </a:r>
            <a:r>
              <a:rPr sz="1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1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Cases:</a:t>
            </a:r>
            <a:endParaRPr sz="1600">
              <a:latin typeface="Times New Roman"/>
              <a:cs typeface="Times New Roman"/>
            </a:endParaRPr>
          </a:p>
          <a:p>
            <a:pPr marL="227965" marR="3449954" lvl="1" indent="-227965" algn="r">
              <a:lnSpc>
                <a:spcPct val="100000"/>
              </a:lnSpc>
              <a:spcBef>
                <a:spcPts val="190"/>
              </a:spcBef>
              <a:buFont typeface="Symbol"/>
              <a:buChar char=""/>
              <a:tabLst>
                <a:tab pos="227965" algn="l"/>
                <a:tab pos="228600" algn="l"/>
              </a:tabLst>
            </a:pPr>
            <a:r>
              <a:rPr sz="1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View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Event</a:t>
            </a:r>
            <a:r>
              <a:rPr sz="1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History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 </a:t>
            </a:r>
            <a:r>
              <a:rPr sz="1600" spc="-5" dirty="0">
                <a:latin typeface="Times New Roman"/>
                <a:cs typeface="Times New Roman"/>
              </a:rPr>
              <a:t>goes 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Profile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section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clicks</a:t>
            </a:r>
            <a:r>
              <a:rPr sz="1600" spc="-5" dirty="0">
                <a:latin typeface="Times New Roman"/>
                <a:cs typeface="Times New Roman"/>
              </a:rPr>
              <a:t> on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 </a:t>
            </a:r>
            <a:r>
              <a:rPr sz="1600" spc="-20" dirty="0">
                <a:latin typeface="Times New Roman"/>
                <a:cs typeface="Times New Roman"/>
              </a:rPr>
              <a:t>History.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spc="-5" dirty="0">
                <a:latin typeface="Times New Roman"/>
                <a:cs typeface="Times New Roman"/>
              </a:rPr>
              <a:t> displays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past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bookings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attended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events.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75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spc="-5" dirty="0">
                <a:latin typeface="Times New Roman"/>
                <a:cs typeface="Times New Roman"/>
              </a:rPr>
              <a:t> can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review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download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past</a:t>
            </a:r>
            <a:r>
              <a:rPr sz="1600" dirty="0">
                <a:latin typeface="Times New Roman"/>
                <a:cs typeface="Times New Roman"/>
              </a:rPr>
              <a:t> e-tickets </a:t>
            </a:r>
            <a:r>
              <a:rPr sz="1600" spc="-5" dirty="0">
                <a:latin typeface="Times New Roman"/>
                <a:cs typeface="Times New Roman"/>
              </a:rPr>
              <a:t>or receipts.</a:t>
            </a:r>
            <a:endParaRPr sz="1600">
              <a:latin typeface="Times New Roman"/>
              <a:cs typeface="Times New Roman"/>
            </a:endParaRPr>
          </a:p>
          <a:p>
            <a:pPr marL="372110" lvl="1" indent="-229235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Add</a:t>
            </a:r>
            <a:r>
              <a:rPr sz="16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Event </a:t>
            </a: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600" b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Wishlist</a:t>
            </a:r>
            <a:endParaRPr sz="1600">
              <a:latin typeface="Times New Roman"/>
              <a:cs typeface="Times New Roman"/>
            </a:endParaRPr>
          </a:p>
          <a:p>
            <a:pPr marL="553085" marR="5080" lvl="2" indent="-228600">
              <a:lnSpc>
                <a:spcPts val="1989"/>
              </a:lnSpc>
              <a:spcBef>
                <a:spcPts val="65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spc="-5" dirty="0">
                <a:latin typeface="Times New Roman"/>
                <a:cs typeface="Times New Roman"/>
              </a:rPr>
              <a:t> browses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category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(Movies,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Trips,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Cafes,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Clubs,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Sports).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ts val="1905"/>
              </a:lnSpc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finds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interest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clicks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Add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Wishlist.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75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spc="-5" dirty="0">
                <a:latin typeface="Times New Roman"/>
                <a:cs typeface="Times New Roman"/>
              </a:rPr>
              <a:t> adds</a:t>
            </a:r>
            <a:r>
              <a:rPr sz="1600" dirty="0">
                <a:latin typeface="Times New Roman"/>
                <a:cs typeface="Times New Roman"/>
              </a:rPr>
              <a:t> the </a:t>
            </a:r>
            <a:r>
              <a:rPr sz="1600" spc="-5" dirty="0">
                <a:latin typeface="Times New Roman"/>
                <a:cs typeface="Times New Roman"/>
              </a:rPr>
              <a:t>event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wishlist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future reference.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spc="-5" dirty="0">
                <a:latin typeface="Times New Roman"/>
                <a:cs typeface="Times New Roman"/>
              </a:rPr>
              <a:t> can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access</a:t>
            </a:r>
            <a:r>
              <a:rPr sz="1600" dirty="0">
                <a:latin typeface="Times New Roman"/>
                <a:cs typeface="Times New Roman"/>
              </a:rPr>
              <a:t> the </a:t>
            </a:r>
            <a:r>
              <a:rPr sz="1600" spc="-5" dirty="0">
                <a:latin typeface="Times New Roman"/>
                <a:cs typeface="Times New Roman"/>
              </a:rPr>
              <a:t>wishlist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under their profile.</a:t>
            </a:r>
            <a:endParaRPr sz="1600">
              <a:latin typeface="Times New Roman"/>
              <a:cs typeface="Times New Roman"/>
            </a:endParaRPr>
          </a:p>
          <a:p>
            <a:pPr marL="372110" lvl="1" indent="-229235">
              <a:lnSpc>
                <a:spcPct val="100000"/>
              </a:lnSpc>
              <a:spcBef>
                <a:spcPts val="195"/>
              </a:spcBef>
              <a:buFont typeface="Symbol"/>
              <a:buChar char=""/>
              <a:tabLst>
                <a:tab pos="372110" algn="l"/>
                <a:tab pos="372745" algn="l"/>
              </a:tabLst>
            </a:pP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Cancel</a:t>
            </a:r>
            <a:r>
              <a:rPr sz="1600" b="1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Booking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spc="-5" dirty="0">
                <a:latin typeface="Times New Roman"/>
                <a:cs typeface="Times New Roman"/>
              </a:rPr>
              <a:t> goes 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My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Events 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profile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section.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6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 </a:t>
            </a:r>
            <a:r>
              <a:rPr sz="1600" spc="-5" dirty="0">
                <a:latin typeface="Times New Roman"/>
                <a:cs typeface="Times New Roman"/>
              </a:rPr>
              <a:t>lists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5" dirty="0">
                <a:latin typeface="Times New Roman"/>
                <a:cs typeface="Times New Roman"/>
              </a:rPr>
              <a:t> upcoming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events.</a:t>
            </a:r>
            <a:endParaRPr sz="1600">
              <a:latin typeface="Times New Roman"/>
              <a:cs typeface="Times New Roman"/>
            </a:endParaRPr>
          </a:p>
          <a:p>
            <a:pPr marL="553085" lvl="2" indent="-229235">
              <a:lnSpc>
                <a:spcPct val="100000"/>
              </a:lnSpc>
              <a:spcBef>
                <a:spcPts val="70"/>
              </a:spcBef>
              <a:buFont typeface="Wingdings"/>
              <a:buChar char=""/>
              <a:tabLst>
                <a:tab pos="553085" algn="l"/>
                <a:tab pos="5537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 </a:t>
            </a:r>
            <a:r>
              <a:rPr sz="1600" spc="-5" dirty="0">
                <a:latin typeface="Times New Roman"/>
                <a:cs typeface="Times New Roman"/>
              </a:rPr>
              <a:t>selects a booking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 cancel.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8237"/>
            <a:ext cx="5755005" cy="4983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781685" marR="6350" indent="-228600">
              <a:lnSpc>
                <a:spcPct val="103099"/>
              </a:lnSpc>
              <a:spcBef>
                <a:spcPts val="35"/>
              </a:spcBef>
              <a:buFont typeface="Wingdings"/>
              <a:buChar char=""/>
              <a:tabLst>
                <a:tab pos="781685" algn="l"/>
                <a:tab pos="782320" algn="l"/>
              </a:tabLst>
            </a:pP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confirms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cancellation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processes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refund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based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 </a:t>
            </a:r>
            <a:r>
              <a:rPr sz="1600" spc="-10" dirty="0">
                <a:latin typeface="Times New Roman"/>
                <a:cs typeface="Times New Roman"/>
              </a:rPr>
              <a:t>terms.</a:t>
            </a:r>
            <a:endParaRPr sz="1600">
              <a:latin typeface="Times New Roman"/>
              <a:cs typeface="Times New Roman"/>
            </a:endParaRPr>
          </a:p>
          <a:p>
            <a:pPr marL="781685" indent="-229235">
              <a:lnSpc>
                <a:spcPct val="100000"/>
              </a:lnSpc>
              <a:spcBef>
                <a:spcPts val="70"/>
              </a:spcBef>
              <a:buFont typeface="Wingdings"/>
              <a:buChar char=""/>
              <a:tabLst>
                <a:tab pos="781685" algn="l"/>
                <a:tab pos="782320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receives 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notification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 </a:t>
            </a:r>
            <a:r>
              <a:rPr sz="1600" dirty="0">
                <a:latin typeface="Times New Roman"/>
                <a:cs typeface="Times New Roman"/>
              </a:rPr>
              <a:t>cancellation.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Postconditions:</a:t>
            </a:r>
            <a:endParaRPr sz="1600">
              <a:latin typeface="Times New Roman"/>
              <a:cs typeface="Times New Roman"/>
            </a:endParaRPr>
          </a:p>
          <a:p>
            <a:pPr marL="600710" marR="8255" lvl="1" indent="-228600">
              <a:lnSpc>
                <a:spcPct val="103099"/>
              </a:lnSpc>
              <a:spcBef>
                <a:spcPts val="120"/>
              </a:spcBef>
              <a:buFont typeface="Symbol"/>
              <a:buChar char=""/>
              <a:tabLst>
                <a:tab pos="600710" algn="l"/>
                <a:tab pos="601345" algn="l"/>
              </a:tabLst>
            </a:pPr>
            <a:r>
              <a:rPr sz="1600" spc="-5" dirty="0">
                <a:latin typeface="Times New Roman"/>
                <a:cs typeface="Times New Roman"/>
              </a:rPr>
              <a:t>Booking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confirmations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sent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via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email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stored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user's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profile.</a:t>
            </a:r>
            <a:endParaRPr sz="1600">
              <a:latin typeface="Times New Roman"/>
              <a:cs typeface="Times New Roman"/>
            </a:endParaRPr>
          </a:p>
          <a:p>
            <a:pPr marL="600710" lvl="1" indent="-229235">
              <a:lnSpc>
                <a:spcPct val="100000"/>
              </a:lnSpc>
              <a:spcBef>
                <a:spcPts val="195"/>
              </a:spcBef>
              <a:buFont typeface="Symbol"/>
              <a:buChar char=""/>
              <a:tabLst>
                <a:tab pos="600710" algn="l"/>
                <a:tab pos="601345" algn="l"/>
              </a:tabLst>
            </a:pPr>
            <a:r>
              <a:rPr sz="1600" spc="-10" dirty="0">
                <a:latin typeface="Times New Roman"/>
                <a:cs typeface="Times New Roman"/>
              </a:rPr>
              <a:t>Users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receive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timely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notifications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upcoming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events.</a:t>
            </a:r>
            <a:endParaRPr sz="1600">
              <a:latin typeface="Times New Roman"/>
              <a:cs typeface="Times New Roman"/>
            </a:endParaRPr>
          </a:p>
          <a:p>
            <a:pPr marL="600710" marR="8890" lvl="1" indent="-228600">
              <a:lnSpc>
                <a:spcPct val="103299"/>
              </a:lnSpc>
              <a:spcBef>
                <a:spcPts val="114"/>
              </a:spcBef>
              <a:buFont typeface="Symbol"/>
              <a:buChar char=""/>
              <a:tabLst>
                <a:tab pos="600710" algn="l"/>
                <a:tab pos="601345" algn="l"/>
              </a:tabLst>
            </a:pPr>
            <a:r>
              <a:rPr sz="1600" spc="-5" dirty="0">
                <a:latin typeface="Times New Roman"/>
                <a:cs typeface="Times New Roman"/>
              </a:rPr>
              <a:t>Refunds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or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changes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events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managed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by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reflected in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user’s</a:t>
            </a:r>
            <a:r>
              <a:rPr sz="1600" spc="-5" dirty="0">
                <a:latin typeface="Times New Roman"/>
                <a:cs typeface="Times New Roman"/>
              </a:rPr>
              <a:t> profile.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750">
              <a:latin typeface="Times New Roman"/>
              <a:cs typeface="Times New Roman"/>
            </a:endParaRPr>
          </a:p>
          <a:p>
            <a:pPr marL="469265" indent="-228600" algn="just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Alternate</a:t>
            </a:r>
            <a:r>
              <a:rPr sz="1600" b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Flows:</a:t>
            </a:r>
            <a:endParaRPr sz="1600">
              <a:latin typeface="Times New Roman"/>
              <a:cs typeface="Times New Roman"/>
            </a:endParaRPr>
          </a:p>
          <a:p>
            <a:pPr marL="600710" marR="5080" lvl="1" indent="-228600" algn="just">
              <a:lnSpc>
                <a:spcPct val="103099"/>
              </a:lnSpc>
              <a:spcBef>
                <a:spcPts val="120"/>
              </a:spcBef>
              <a:buFont typeface="Symbol"/>
              <a:buChar char=""/>
              <a:tabLst>
                <a:tab pos="601345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Event Fully </a:t>
            </a:r>
            <a:r>
              <a:rPr sz="16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Booked: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If an event is fully booked, </a:t>
            </a:r>
            <a:r>
              <a:rPr sz="1600" dirty="0">
                <a:latin typeface="Times New Roman"/>
                <a:cs typeface="Times New Roman"/>
              </a:rPr>
              <a:t>the </a:t>
            </a:r>
            <a:r>
              <a:rPr sz="1600" spc="-10" dirty="0">
                <a:latin typeface="Times New Roman"/>
                <a:cs typeface="Times New Roman"/>
              </a:rPr>
              <a:t>system </a:t>
            </a:r>
            <a:r>
              <a:rPr sz="1600" spc="-5" dirty="0">
                <a:latin typeface="Times New Roman"/>
                <a:cs typeface="Times New Roman"/>
              </a:rPr>
              <a:t> notifies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offers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alternative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dates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similar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events.</a:t>
            </a:r>
            <a:endParaRPr sz="1600">
              <a:latin typeface="Times New Roman"/>
              <a:cs typeface="Times New Roman"/>
            </a:endParaRPr>
          </a:p>
          <a:p>
            <a:pPr marL="600710" marR="5715" lvl="1" indent="-228600" algn="just">
              <a:lnSpc>
                <a:spcPct val="103099"/>
              </a:lnSpc>
              <a:spcBef>
                <a:spcPts val="135"/>
              </a:spcBef>
              <a:buFont typeface="Symbol"/>
              <a:buChar char=""/>
              <a:tabLst>
                <a:tab pos="601345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Payment</a:t>
            </a:r>
            <a:r>
              <a:rPr sz="16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Failure: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payment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fails,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system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notifies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user </a:t>
            </a:r>
            <a:r>
              <a:rPr sz="1600" spc="-3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offers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retry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or choose a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different</a:t>
            </a:r>
            <a:r>
              <a:rPr sz="1600" spc="-5" dirty="0">
                <a:latin typeface="Times New Roman"/>
                <a:cs typeface="Times New Roman"/>
              </a:rPr>
              <a:t> payment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method.</a:t>
            </a: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3499"/>
              </a:lnSpc>
              <a:spcBef>
                <a:spcPts val="795"/>
              </a:spcBef>
            </a:pPr>
            <a:r>
              <a:rPr sz="1600" spc="-5" dirty="0">
                <a:latin typeface="Times New Roman"/>
                <a:cs typeface="Times New Roman"/>
              </a:rPr>
              <a:t>This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case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scenario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outlines</a:t>
            </a:r>
            <a:r>
              <a:rPr sz="1600" dirty="0">
                <a:latin typeface="Times New Roman"/>
                <a:cs typeface="Times New Roman"/>
              </a:rPr>
              <a:t> 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core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functionality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 </a:t>
            </a:r>
            <a:r>
              <a:rPr sz="1600" spc="-20" dirty="0">
                <a:latin typeface="Times New Roman"/>
                <a:cs typeface="Times New Roman"/>
              </a:rPr>
              <a:t>Tri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Vibe 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Events,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allowing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users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seamlessly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book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events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across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different </a:t>
            </a:r>
            <a:r>
              <a:rPr sz="1600" spc="-5" dirty="0">
                <a:latin typeface="Times New Roman"/>
                <a:cs typeface="Times New Roman"/>
              </a:rPr>
              <a:t> categories such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movies, trips,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cafes,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clubs, 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sports.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WELCOME\AppData\Local\Packages\Microsoft.Windows.Photos_8wekyb3d8bbwe\TempState\ShareServiceTempFolder\USE-CASE-DIAGRA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650" y="774700"/>
            <a:ext cx="7211505" cy="61722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425450" y="393700"/>
            <a:ext cx="2276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USE CASE DIAGRAM : </a:t>
            </a:r>
            <a:endParaRPr lang="en-US" b="1" u="sng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WELCOME\AppData\Local\Packages\Microsoft.Windows.Photos_8wekyb3d8bbwe\TempState\ShareServiceTempFolder\Activity Diagram Latest.drawio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1080750" y="-4635500"/>
            <a:ext cx="33632775" cy="19726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650" y="0"/>
            <a:ext cx="7315200" cy="1984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850" y="1155700"/>
            <a:ext cx="678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DFD – LEVEL – 0 : </a:t>
            </a:r>
            <a:endParaRPr lang="en-US" b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196850" y="1765300"/>
            <a:ext cx="7086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Level 0 DFD:</a:t>
            </a:r>
          </a:p>
          <a:p>
            <a:endParaRPr lang="en-US" dirty="0" smtClean="0"/>
          </a:p>
          <a:p>
            <a:r>
              <a:rPr lang="en-US" dirty="0" smtClean="0"/>
              <a:t>This is a context diagram showing the highest-level view of the system.</a:t>
            </a:r>
          </a:p>
          <a:p>
            <a:endParaRPr lang="en-US" dirty="0" smtClean="0"/>
          </a:p>
          <a:p>
            <a:r>
              <a:rPr lang="en-US" b="1" dirty="0" smtClean="0"/>
              <a:t>External entities</a:t>
            </a:r>
            <a:r>
              <a:rPr lang="en-US" dirty="0" smtClean="0"/>
              <a:t>: User and Event Organizer</a:t>
            </a:r>
          </a:p>
          <a:p>
            <a:endParaRPr lang="en-US" dirty="0"/>
          </a:p>
          <a:p>
            <a:r>
              <a:rPr lang="en-US" b="1" dirty="0" smtClean="0"/>
              <a:t>Central process</a:t>
            </a:r>
            <a:r>
              <a:rPr lang="en-US" dirty="0" smtClean="0"/>
              <a:t>: Tri Vibe Events System</a:t>
            </a:r>
          </a:p>
          <a:p>
            <a:endParaRPr lang="en-US" dirty="0"/>
          </a:p>
          <a:p>
            <a:r>
              <a:rPr lang="en-US" b="1" dirty="0" smtClean="0"/>
              <a:t>Data flows: </a:t>
            </a:r>
            <a:r>
              <a:rPr lang="en-US" dirty="0" smtClean="0"/>
              <a:t>Booking Requests, Booking Confirmations, Event Management, and Booking Information</a:t>
            </a:r>
            <a:endParaRPr lang="en-US" dirty="0"/>
          </a:p>
        </p:txBody>
      </p:sp>
      <p:pic>
        <p:nvPicPr>
          <p:cNvPr id="4" name="Picture 3" descr="DFD LEVEL 0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50" y="5118100"/>
            <a:ext cx="6592220" cy="44392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FD-LEVEL-1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89350" y="0"/>
            <a:ext cx="150114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FD-LEVEL-2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89351" y="11924"/>
            <a:ext cx="14951891" cy="10681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</TotalTime>
  <Words>747</Words>
  <Application>Microsoft Office PowerPoint</Application>
  <PresentationFormat>Custom</PresentationFormat>
  <Paragraphs>117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Report on Use case Scenario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on Use case Scenario</dc:title>
  <dc:creator>JASHANDEEP SINGH</dc:creator>
  <cp:lastModifiedBy>WELCOME</cp:lastModifiedBy>
  <cp:revision>3</cp:revision>
  <dcterms:created xsi:type="dcterms:W3CDTF">2024-10-08T17:58:08Z</dcterms:created>
  <dcterms:modified xsi:type="dcterms:W3CDTF">2024-10-15T15:42:15Z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2024-09-10T00:00:00Z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2024-10-08T00:00:00Z</vt:filetime>
  </property>
</Properties>
</file>